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11" d="100"/>
          <a:sy n="111" d="100"/>
        </p:scale>
        <p:origin x="1968"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1B00924B-4A39-0E1C-7022-C42472ADA341}"/>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84683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E39AC46A-8CF6-ED4D-FAD8-486BE3A6D156}"/>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32801" y="1584846"/>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24365" y="2698301"/>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25244" y="269237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36773" y="382691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14107" y="3798745"/>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47519" y="4931941"/>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14107" y="1584847"/>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8A5D1814-5E0C-39DC-5B29-E59DBEEAB399}"/>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BA476A9E-0D14-68E6-CB3B-791027715399}"/>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5B60ED96-7FC3-A7F4-12DB-25FB86FE0A2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803C5D44-AB6D-84F9-9D33-02252715BFB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B7DDB91C-992A-6E62-A818-05CE19A9C124}"/>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8F2D9A0D-21F3-79C6-1315-101132767208}"/>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02BB47E3-4B3E-2DE7-87AF-6927A60263C8}"/>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6B2F2DA6-7A18-D0BA-69F7-15716746DF9A}"/>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en-HK" altLang="zh-CN" b="1">
                <a:solidFill>
                  <a:srgbClr val="002060"/>
                </a:solidFill>
              </a:rPr>
              <a:t>Global </a:t>
            </a:r>
            <a:r>
              <a:rPr lang="en-HK" altLang="zh-CN" b="1" dirty="0">
                <a:solidFill>
                  <a:srgbClr val="002060"/>
                </a:solidFill>
              </a:rPr>
              <a:t>Investment Outlook</a:t>
            </a:r>
            <a:endParaRPr lang="zh-CN" altLang="en-US" b="1" dirty="0">
              <a:solidFill>
                <a:srgbClr val="002060"/>
              </a:solidFill>
            </a:endParaRPr>
          </a:p>
        </p:txBody>
      </p:sp>
      <p:graphicFrame>
        <p:nvGraphicFramePr>
          <p:cNvPr id="3" name="Table 2">
            <a:extLst>
              <a:ext uri="{FF2B5EF4-FFF2-40B4-BE49-F238E27FC236}">
                <a16:creationId xmlns:a16="http://schemas.microsoft.com/office/drawing/2014/main" id="{65992DCF-3925-5290-72A2-DF3FB40DBEF9}"/>
              </a:ext>
            </a:extLst>
          </p:cNvPr>
          <p:cNvGraphicFramePr>
            <a:graphicFrameLocks noGrp="1"/>
          </p:cNvGraphicFramePr>
          <p:nvPr>
            <p:extLst>
              <p:ext uri="{D42A27DB-BD31-4B8C-83A1-F6EECF244321}">
                <p14:modId xmlns:p14="http://schemas.microsoft.com/office/powerpoint/2010/main" val="3623075402"/>
              </p:ext>
            </p:extLst>
          </p:nvPr>
        </p:nvGraphicFramePr>
        <p:xfrm>
          <a:off x="394854" y="1316578"/>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778139040"/>
                    </a:ext>
                  </a:extLst>
                </a:gridCol>
                <a:gridCol w="1397409">
                  <a:extLst>
                    <a:ext uri="{9D8B030D-6E8A-4147-A177-3AD203B41FA5}">
                      <a16:colId xmlns:a16="http://schemas.microsoft.com/office/drawing/2014/main" val="767189912"/>
                    </a:ext>
                  </a:extLst>
                </a:gridCol>
                <a:gridCol w="5800752">
                  <a:extLst>
                    <a:ext uri="{9D8B030D-6E8A-4147-A177-3AD203B41FA5}">
                      <a16:colId xmlns:a16="http://schemas.microsoft.com/office/drawing/2014/main" val="2911743880"/>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Asset Class</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US"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Market</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Investment Rationale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12429849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Equity</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60904351"/>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36741301"/>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69836522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264454663"/>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Fixed Income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62758128"/>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Alternative Investmen</a:t>
                      </a:r>
                      <a:r>
                        <a:rPr kumimoji="0" lang="en-HK" altLang="zh-CN" sz="1200" b="1" i="0" u="none" strike="noStrike" kern="1200" cap="none" spc="0" normalizeH="0" baseline="0" noProof="0" dirty="0">
                          <a:ln>
                            <a:noFill/>
                          </a:ln>
                          <a:solidFill>
                            <a:srgbClr val="000000"/>
                          </a:solidFill>
                          <a:effectLst/>
                          <a:uLnTx/>
                          <a:uFillTx/>
                          <a:latin typeface="+mn-lt"/>
                          <a:ea typeface="+mn-ea"/>
                          <a:cs typeface="+mn-cs"/>
                        </a:rPr>
                        <a:t>t</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546793944"/>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83000117"/>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E491267-BE00-4DD8-8B4B-1FECB4718B7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8972</TotalTime>
  <Words>2080</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5" baseType="lpstr">
      <vt:lpstr>等线</vt:lpstr>
      <vt:lpstr>Frutiger 55 Roman</vt:lpstr>
      <vt:lpstr>Microsoft YaHei</vt:lpstr>
      <vt:lpstr>Microsoft YaHei</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Global Investment Outlook</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364</cp:revision>
  <cp:lastPrinted>2025-08-29T08:29:01Z</cp:lastPrinted>
  <dcterms:created xsi:type="dcterms:W3CDTF">2018-11-09T15:55:20Z</dcterms:created>
  <dcterms:modified xsi:type="dcterms:W3CDTF">2026-01-20T09:56:26Z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